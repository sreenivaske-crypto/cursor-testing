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A3A3"/>
                </a:solidFill>
                <a:latin typeface="Calibri"/>
              </a:rPr>
              <a:t>SECURITY ARCHITECTURE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Network Intrusion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8A96A8"/>
                </a:solidFill>
                <a:latin typeface="Calibri"/>
              </a:rPr>
              <a:t>How NIDS protects your network — architecture, detection, and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Client Presentation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What we will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00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What is NIDS?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00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Why it matters for your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3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Architecture &amp; data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3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517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Core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03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Detection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57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703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NIDS vs HIDS &amp; 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5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7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Deployment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70915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A3A3"/>
                </a:solidFill>
                <a:latin typeface="Calibr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75487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F1C2E"/>
                </a:solidFill>
                <a:latin typeface="Calibri"/>
              </a:rPr>
              <a:t>Business benefits &amp; 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What is a Network IDS?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Passive monitoring that finds threats on the wire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" cy="4389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In plain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9377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A Network Intrusion Detection System (NIDS) watches network traffic in real time.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It sits outside the main path (usually on a tap or SPAN port) so it does not slow production traffic.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When suspicious patterns appear — known attacks, scans, malware callbacks — it raises alerts for your security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73152" cy="4389120"/>
          </a:xfrm>
          <a:prstGeom prst="rect">
            <a:avLst/>
          </a:prstGeom>
          <a:solidFill>
            <a:srgbClr val="14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What it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9377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Not a firewall — it does not block by default.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Not antivirus on endpoints — it watches network flows, not files on laptops.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Not a replacement for patching or access control — it complements them as an early-warning layer.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Why NIDS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Visibility into threats that slip past perimeter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Early warning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Detect reconnaissance, lateral movement, and C2 traffic before damage spreads.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Blind-spot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Catch threats that bypassed firewalls, VPN, or compromised credentials.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Compliance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Evidence of continuous monitoring for audits (ISO, SOC 2, PCI, etc.).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Incident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519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Rich packet/flow context helps analysts investigate faster.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NIDS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End-to-end traffic path from network to analyst</a:t>
            </a:r>
          </a:p>
        </p:txBody>
      </p:sp>
      <p:pic>
        <p:nvPicPr>
          <p:cNvPr id="7" name="Picture 6" descr="nids-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698480" cy="7132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Five steps from packets to action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1645920"/>
            <a:ext cx="640080" cy="640080"/>
          </a:xfrm>
          <a:prstGeom prst="ellipse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556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920240"/>
            <a:ext cx="1371600" cy="5486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Traffic is mirrored via SPAN/tap from critical network segments.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1645920"/>
            <a:ext cx="640080" cy="640080"/>
          </a:xfrm>
          <a:prstGeom prst="ellipse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7556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1371600" cy="5486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5603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Decode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1752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Sensor parses protocols (TCP/UDP, HTTP, DNS, TLS metadata, etc.).</a:t>
            </a:r>
          </a:p>
        </p:txBody>
      </p:sp>
      <p:sp>
        <p:nvSpPr>
          <p:cNvPr id="17" name="Oval 16"/>
          <p:cNvSpPr/>
          <p:nvPr/>
        </p:nvSpPr>
        <p:spPr>
          <a:xfrm>
            <a:off x="5715000" y="1645920"/>
            <a:ext cx="640080" cy="640080"/>
          </a:xfrm>
          <a:prstGeom prst="ellipse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7556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920240"/>
            <a:ext cx="1371600" cy="5486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5603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01752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Engine matches signatures and/or scores anomalous behavior.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1645920"/>
            <a:ext cx="640080" cy="640080"/>
          </a:xfrm>
          <a:prstGeom prst="ellipse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7556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920240"/>
            <a:ext cx="1371600" cy="5486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5603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01752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High-confidence events go to SIEM / SOC console.</a:t>
            </a:r>
          </a:p>
        </p:txBody>
      </p:sp>
      <p:sp>
        <p:nvSpPr>
          <p:cNvPr id="27" name="Oval 26"/>
          <p:cNvSpPr/>
          <p:nvPr/>
        </p:nvSpPr>
        <p:spPr>
          <a:xfrm>
            <a:off x="10287000" y="1645920"/>
            <a:ext cx="640080" cy="640080"/>
          </a:xfrm>
          <a:prstGeom prst="ellipse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17556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5603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Respond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01752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Analysts triage, contain, and tune rules for fewer false positives.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Core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Building blocks of a production NIDS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Network tap / SPAN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Copies traffic without interrupting production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NIDS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Appliance or VM that receives and preprocesses packets.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Detection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Signature matching + optional ML/anomaly analytics.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Rule / intel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Vendor signatures, threat intel IOCs, custom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03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Alert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297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Deduplicates, prioritizes, and routes events.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703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SIEM /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97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Where SOC analysts hunt, triage, and report.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Detection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Two complementary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" cy="4389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Signature-based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9377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Matches traffic against known attack patterns (CVE exploits, malware beacons, scanners).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Strengths: high precision for known threats; easy to explain.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Limits: weak against brand-new (zero-day) attacks until rules update.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73152" cy="4389120"/>
          </a:xfrm>
          <a:prstGeom prst="rect">
            <a:avLst/>
          </a:prstGeom>
          <a:solidFill>
            <a:srgbClr val="14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Anomaly / behavior-based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9377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Baselines normal traffic, then flags unusual volumes, destinations, or protocols.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Strengths: can surface unknown or insider threats.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Limits: needs tuning; more false positives without good baselines.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NIDS vs HIDS vs 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Choosing the right control for the job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121408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8A96A8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463040"/>
            <a:ext cx="2852928" cy="5029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463040"/>
            <a:ext cx="2852928" cy="5029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463040"/>
            <a:ext cx="2852928" cy="5029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57400"/>
            <a:ext cx="212140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8600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1C2E"/>
                </a:solidFill>
                <a:latin typeface="Calibri"/>
              </a:rPr>
              <a:t>Watches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057400"/>
            <a:ext cx="285292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28600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Network traffic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057400"/>
            <a:ext cx="285292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228600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Host/OS activity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057400"/>
            <a:ext cx="285292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228600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Network (inline)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212140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15468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1C2E"/>
                </a:solidFill>
                <a:latin typeface="Calibri"/>
              </a:rPr>
              <a:t>Placement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926080"/>
            <a:ext cx="285292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315468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Tap / SPAN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926080"/>
            <a:ext cx="285292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315468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On each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926080"/>
            <a:ext cx="285292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315468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In traffic path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94760"/>
            <a:ext cx="212140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02336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1C2E"/>
                </a:solidFill>
                <a:latin typeface="Calibri"/>
              </a:rPr>
              <a:t>Primary 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794760"/>
            <a:ext cx="285292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2928" y="402336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Detect &amp; alert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794760"/>
            <a:ext cx="285292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79008" y="402336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Detect on host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3794760"/>
            <a:ext cx="285292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05088" y="402336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Detect &amp; block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663440"/>
            <a:ext cx="212140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89204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1C2E"/>
                </a:solidFill>
                <a:latin typeface="Calibri"/>
              </a:rPr>
              <a:t>Best for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663440"/>
            <a:ext cx="285292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52928" y="489204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East-west &amp; perimeter visibility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4663440"/>
            <a:ext cx="285292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9008" y="489204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Rootkits, file integrity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663440"/>
            <a:ext cx="2852928" cy="804672"/>
          </a:xfrm>
          <a:prstGeom prst="rect">
            <a:avLst/>
          </a:prstGeom>
          <a:solidFill>
            <a:srgbClr val="EEF2F7"/>
          </a:solidFill>
          <a:ln w="635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05088" y="4892040"/>
            <a:ext cx="2697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D3A4A"/>
                </a:solidFill>
                <a:latin typeface="Calibri"/>
              </a:rPr>
              <a:t>Automated prevention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A96A8"/>
                </a:solidFill>
                <a:latin typeface="Calibri"/>
              </a:rPr>
              <a:t>Recommendation: use NIDS for network visibility; pair with HIDS/EDR on critical hosts and IPS where blocking is required.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Deployment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Where to place sensors for maximum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Perimeter / DMZ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Watch internet-facing traffic for scans, exploits, and malware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Data center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Monitor east-west traffic between servers — where attackers often move unseen.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Cloud / 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Virtual taps or cloud-native flow + packet mirrors for VPC/VNet segments.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73152" cy="201168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Branch / OT edges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519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Lightweight sensors at remote sites or industrial networks when risk warrants.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Business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What your organization gains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Reduced dwell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Spot intrusions earlier and shrink attacker time-to-damage.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Stronger SOC 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Actionable alerts with packet context for faster triage.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Risk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Additional control layer when credentials or endpoints fail.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Audit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Demonstrable continuous network monitoring.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03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Scalable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297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One sensor can cover many hosts without agent sprawl.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703320"/>
            <a:ext cx="73152" cy="21031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86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Tunable over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976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D3A4A"/>
                </a:solidFill>
                <a:latin typeface="Calibri"/>
              </a:rPr>
              <a:t>Rules and baselines improve as your environment is learned.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09728" cy="50292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A96A8"/>
                </a:solidFill>
                <a:latin typeface="Calibri"/>
              </a:rPr>
              <a:t>A practical path from briefing to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91440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1.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745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D3A4A"/>
                </a:solidFill>
                <a:latin typeface="Calibri"/>
              </a:rPr>
              <a:t>Identify critical segments: internet edge, DC core, key cloud VPCs.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91440" cy="91440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2.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D3A4A"/>
                </a:solidFill>
                <a:latin typeface="Calibri"/>
              </a:rPr>
              <a:t>Deploy one sensor on SPAN/tap; integrate alerts into your SIEM.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39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520439"/>
            <a:ext cx="91440" cy="91440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57599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3. 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39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D3A4A"/>
                </a:solidFill>
                <a:latin typeface="Calibri"/>
              </a:rPr>
              <a:t>Reduce noise for 2–4 weeks; prioritize high-fidelity use cases.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91440" cy="914400"/>
          </a:xfrm>
          <a:prstGeom prst="rect">
            <a:avLst/>
          </a:prstGeom>
          <a:solidFill>
            <a:srgbClr val="1F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C2E"/>
                </a:solidFill>
                <a:latin typeface="Calibri"/>
              </a:rPr>
              <a:t>4.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D3A4A"/>
                </a:solidFill>
                <a:latin typeface="Calibri"/>
              </a:rPr>
              <a:t>Roll out to remaining segments; define SLAs for SOC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6A8"/>
                </a:solidFill>
                <a:latin typeface="Calibri"/>
              </a:rPr>
              <a:t>Network Intrusion Detection System  |  Confidential — Client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96A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